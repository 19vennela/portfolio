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Robo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Bqblvl6J1W4BnUoQxavFrYvvr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ca9c17fc5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bca9c17fc5_2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ca9c17fc5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bca9c17fc5_2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d1668225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bd16682253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d1668225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bd16682253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d1668225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bd16682253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d1668225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bd16682253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d1668225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bd16682253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id="86" name="Google Shape;86;p1"/>
          <p:cNvPicPr preferRelativeResize="0"/>
          <p:nvPr/>
        </p:nvPicPr>
        <p:blipFill rotWithShape="1">
          <a:blip r:embed="rId3">
            <a:alphaModFix/>
          </a:blip>
          <a:srcRect b="0" l="0" r="0" t="0"/>
          <a:stretch/>
        </p:blipFill>
        <p:spPr>
          <a:xfrm>
            <a:off x="0" y="-2975"/>
            <a:ext cx="12192000" cy="6863953"/>
          </a:xfrm>
          <a:prstGeom prst="rect">
            <a:avLst/>
          </a:prstGeom>
          <a:noFill/>
          <a:ln>
            <a:noFill/>
          </a:ln>
        </p:spPr>
      </p:pic>
      <p:pic>
        <p:nvPicPr>
          <p:cNvPr id="87" name="Google Shape;87;p1"/>
          <p:cNvPicPr preferRelativeResize="0"/>
          <p:nvPr/>
        </p:nvPicPr>
        <p:blipFill rotWithShape="1">
          <a:blip r:embed="rId4">
            <a:alphaModFix/>
          </a:blip>
          <a:srcRect b="0" l="0" r="0" t="0"/>
          <a:stretch/>
        </p:blipFill>
        <p:spPr>
          <a:xfrm>
            <a:off x="10157016" y="165537"/>
            <a:ext cx="1864656" cy="1153662"/>
          </a:xfrm>
          <a:prstGeom prst="rect">
            <a:avLst/>
          </a:prstGeom>
          <a:noFill/>
          <a:ln>
            <a:noFill/>
          </a:ln>
        </p:spPr>
      </p:pic>
      <p:sp>
        <p:nvSpPr>
          <p:cNvPr id="88" name="Google Shape;88;p1"/>
          <p:cNvSpPr txBox="1"/>
          <p:nvPr/>
        </p:nvSpPr>
        <p:spPr>
          <a:xfrm>
            <a:off x="109600" y="1244175"/>
            <a:ext cx="96717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5000">
                <a:solidFill>
                  <a:schemeClr val="dk1"/>
                </a:solidFill>
              </a:rPr>
              <a:t>Savoury Pancake Mixes</a:t>
            </a:r>
            <a:endParaRPr sz="5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92" name="Shape 92"/>
        <p:cNvGrpSpPr/>
        <p:nvPr/>
      </p:nvGrpSpPr>
      <p:grpSpPr>
        <a:xfrm>
          <a:off x="0" y="0"/>
          <a:ext cx="0" cy="0"/>
          <a:chOff x="0" y="0"/>
          <a:chExt cx="0" cy="0"/>
        </a:xfrm>
      </p:grpSpPr>
      <p:sp>
        <p:nvSpPr>
          <p:cNvPr id="93" name="Google Shape;93;p3"/>
          <p:cNvSpPr/>
          <p:nvPr/>
        </p:nvSpPr>
        <p:spPr>
          <a:xfrm>
            <a:off x="9359151" y="5"/>
            <a:ext cx="2635625" cy="1828795"/>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4" name="Google Shape;94;p3"/>
          <p:cNvPicPr preferRelativeResize="0"/>
          <p:nvPr/>
        </p:nvPicPr>
        <p:blipFill rotWithShape="1">
          <a:blip r:embed="rId3">
            <a:alphaModFix/>
          </a:blip>
          <a:srcRect b="11955" l="0" r="0" t="0"/>
          <a:stretch/>
        </p:blipFill>
        <p:spPr>
          <a:xfrm>
            <a:off x="9617663" y="274607"/>
            <a:ext cx="2208249" cy="1213534"/>
          </a:xfrm>
          <a:prstGeom prst="rect">
            <a:avLst/>
          </a:prstGeom>
          <a:noFill/>
          <a:ln>
            <a:noFill/>
          </a:ln>
        </p:spPr>
      </p:pic>
      <p:sp>
        <p:nvSpPr>
          <p:cNvPr id="95" name="Google Shape;95;p3"/>
          <p:cNvSpPr txBox="1"/>
          <p:nvPr/>
        </p:nvSpPr>
        <p:spPr>
          <a:xfrm>
            <a:off x="0" y="0"/>
            <a:ext cx="5067300" cy="18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8300">
                <a:solidFill>
                  <a:schemeClr val="dk1"/>
                </a:solidFill>
              </a:rPr>
              <a:t>Why??</a:t>
            </a:r>
            <a:endParaRPr b="1" sz="83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
        <p:nvSpPr>
          <p:cNvPr id="96" name="Google Shape;96;p3"/>
          <p:cNvSpPr txBox="1"/>
          <p:nvPr/>
        </p:nvSpPr>
        <p:spPr>
          <a:xfrm>
            <a:off x="0" y="1823100"/>
            <a:ext cx="11109300" cy="5363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IN" sz="1900">
                <a:solidFill>
                  <a:schemeClr val="dk1"/>
                </a:solidFill>
                <a:latin typeface="Calibri"/>
                <a:ea typeface="Calibri"/>
                <a:cs typeface="Calibri"/>
                <a:sym typeface="Calibri"/>
              </a:rPr>
              <a:t>For too long, India and the world have accepted convenient breakfasts as nothing more than sugary cereals or the same old boring eggs. But what if savory pancakes could change how the world eats?</a:t>
            </a:r>
            <a:endParaRPr sz="19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IN" sz="1900">
                <a:solidFill>
                  <a:schemeClr val="dk1"/>
                </a:solidFill>
                <a:latin typeface="Calibri"/>
                <a:ea typeface="Calibri"/>
                <a:cs typeface="Calibri"/>
                <a:sym typeface="Calibri"/>
              </a:rPr>
              <a:t>Slurrp Farm believes in a better-for-you, quick-fix format with the goodness of millets—available in flavors that actually excite children and encourage them to start their day without a glucose spike. With more and more experts speaking about how children shouldn't consume sugar at all, eliminating it from the first meal of the day gives parents more leeway to create better, balanced meals for the rest of the day.</a:t>
            </a:r>
            <a:endParaRPr sz="19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IN" sz="1900">
                <a:solidFill>
                  <a:schemeClr val="dk1"/>
                </a:solidFill>
                <a:latin typeface="Calibri"/>
                <a:ea typeface="Calibri"/>
                <a:cs typeface="Calibri"/>
                <a:sym typeface="Calibri"/>
              </a:rPr>
              <a:t>Modern Indian parents simply don't have the time to prepare traditional, labor-intensive breakfasts like parathas or idlis. That's where these easy mix-and-dump breakfasts come in—no soaking grains the night before, no elaborate prep. Just wholesome nutrition that keeps kids full for longer thanks to the power of millets, while reshaping their expectations away from sugar-laden mornings.</a:t>
            </a:r>
            <a:endParaRPr sz="19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IN" sz="1900">
                <a:solidFill>
                  <a:schemeClr val="dk1"/>
                </a:solidFill>
                <a:latin typeface="Calibri"/>
                <a:ea typeface="Calibri"/>
                <a:cs typeface="Calibri"/>
                <a:sym typeface="Calibri"/>
              </a:rPr>
              <a:t>The statistics speak for themselves: about 1 in 4 people skip breakfast in major metropolitan cities, and many school children go without a balanced morning meal. It's time to change that—one savory pancake at a time.</a:t>
            </a:r>
            <a:endParaRPr sz="19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100" name="Shape 100"/>
        <p:cNvGrpSpPr/>
        <p:nvPr/>
      </p:nvGrpSpPr>
      <p:grpSpPr>
        <a:xfrm>
          <a:off x="0" y="0"/>
          <a:ext cx="0" cy="0"/>
          <a:chOff x="0" y="0"/>
          <a:chExt cx="0" cy="0"/>
        </a:xfrm>
      </p:grpSpPr>
      <p:sp>
        <p:nvSpPr>
          <p:cNvPr id="101" name="Google Shape;101;g3bca9c17fc5_2_3"/>
          <p:cNvSpPr/>
          <p:nvPr/>
        </p:nvSpPr>
        <p:spPr>
          <a:xfrm>
            <a:off x="9359151" y="5"/>
            <a:ext cx="2635500" cy="1828800"/>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2" name="Google Shape;102;g3bca9c17fc5_2_3"/>
          <p:cNvPicPr preferRelativeResize="0"/>
          <p:nvPr/>
        </p:nvPicPr>
        <p:blipFill rotWithShape="1">
          <a:blip r:embed="rId3">
            <a:alphaModFix/>
          </a:blip>
          <a:srcRect b="11956" l="0" r="0" t="0"/>
          <a:stretch/>
        </p:blipFill>
        <p:spPr>
          <a:xfrm>
            <a:off x="9617663" y="274607"/>
            <a:ext cx="2208249" cy="1213534"/>
          </a:xfrm>
          <a:prstGeom prst="rect">
            <a:avLst/>
          </a:prstGeom>
          <a:noFill/>
          <a:ln>
            <a:noFill/>
          </a:ln>
        </p:spPr>
      </p:pic>
      <p:sp>
        <p:nvSpPr>
          <p:cNvPr id="103" name="Google Shape;103;g3bca9c17fc5_2_3"/>
          <p:cNvSpPr txBox="1"/>
          <p:nvPr/>
        </p:nvSpPr>
        <p:spPr>
          <a:xfrm>
            <a:off x="0" y="0"/>
            <a:ext cx="5067300" cy="18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8300">
                <a:solidFill>
                  <a:schemeClr val="dk1"/>
                </a:solidFill>
              </a:rPr>
              <a:t>Why?</a:t>
            </a:r>
            <a:endParaRPr b="1" sz="83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pic>
        <p:nvPicPr>
          <p:cNvPr id="104" name="Google Shape;104;g3bca9c17fc5_2_3" title="Screenshot 2026-02-05 at 10.31.14 AM.png"/>
          <p:cNvPicPr preferRelativeResize="0"/>
          <p:nvPr/>
        </p:nvPicPr>
        <p:blipFill>
          <a:blip r:embed="rId4">
            <a:alphaModFix/>
          </a:blip>
          <a:stretch>
            <a:fillRect/>
          </a:stretch>
        </p:blipFill>
        <p:spPr>
          <a:xfrm>
            <a:off x="152400" y="1981205"/>
            <a:ext cx="11887199" cy="436394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108" name="Shape 108"/>
        <p:cNvGrpSpPr/>
        <p:nvPr/>
      </p:nvGrpSpPr>
      <p:grpSpPr>
        <a:xfrm>
          <a:off x="0" y="0"/>
          <a:ext cx="0" cy="0"/>
          <a:chOff x="0" y="0"/>
          <a:chExt cx="0" cy="0"/>
        </a:xfrm>
      </p:grpSpPr>
      <p:sp>
        <p:nvSpPr>
          <p:cNvPr id="109" name="Google Shape;109;g3bca9c17fc5_2_28"/>
          <p:cNvSpPr/>
          <p:nvPr/>
        </p:nvSpPr>
        <p:spPr>
          <a:xfrm>
            <a:off x="9359151" y="5"/>
            <a:ext cx="2635500" cy="1828800"/>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0" name="Google Shape;110;g3bca9c17fc5_2_28"/>
          <p:cNvPicPr preferRelativeResize="0"/>
          <p:nvPr/>
        </p:nvPicPr>
        <p:blipFill rotWithShape="1">
          <a:blip r:embed="rId3">
            <a:alphaModFix/>
          </a:blip>
          <a:srcRect b="11956" l="0" r="0" t="0"/>
          <a:stretch/>
        </p:blipFill>
        <p:spPr>
          <a:xfrm>
            <a:off x="9617663" y="274607"/>
            <a:ext cx="2208249" cy="1213534"/>
          </a:xfrm>
          <a:prstGeom prst="rect">
            <a:avLst/>
          </a:prstGeom>
          <a:noFill/>
          <a:ln>
            <a:noFill/>
          </a:ln>
        </p:spPr>
      </p:pic>
      <p:sp>
        <p:nvSpPr>
          <p:cNvPr id="111" name="Google Shape;111;g3bca9c17fc5_2_28"/>
          <p:cNvSpPr txBox="1"/>
          <p:nvPr/>
        </p:nvSpPr>
        <p:spPr>
          <a:xfrm>
            <a:off x="0" y="0"/>
            <a:ext cx="5067300" cy="18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8300">
                <a:solidFill>
                  <a:schemeClr val="dk1"/>
                </a:solidFill>
              </a:rPr>
              <a:t>Why?</a:t>
            </a:r>
            <a:endParaRPr b="1" sz="83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
        <p:nvSpPr>
          <p:cNvPr id="112" name="Google Shape;112;g3bca9c17fc5_2_28"/>
          <p:cNvSpPr txBox="1"/>
          <p:nvPr/>
        </p:nvSpPr>
        <p:spPr>
          <a:xfrm>
            <a:off x="2411875" y="2899125"/>
            <a:ext cx="7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13" name="Google Shape;113;g3bca9c17fc5_2_28" title="Screenshot 2026-02-05 at 10.33.01 AM.png"/>
          <p:cNvPicPr preferRelativeResize="0"/>
          <p:nvPr/>
        </p:nvPicPr>
        <p:blipFill>
          <a:blip r:embed="rId4">
            <a:alphaModFix/>
          </a:blip>
          <a:stretch>
            <a:fillRect/>
          </a:stretch>
        </p:blipFill>
        <p:spPr>
          <a:xfrm>
            <a:off x="152400" y="2375925"/>
            <a:ext cx="11887201" cy="29073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117" name="Shape 117"/>
        <p:cNvGrpSpPr/>
        <p:nvPr/>
      </p:nvGrpSpPr>
      <p:grpSpPr>
        <a:xfrm>
          <a:off x="0" y="0"/>
          <a:ext cx="0" cy="0"/>
          <a:chOff x="0" y="0"/>
          <a:chExt cx="0" cy="0"/>
        </a:xfrm>
      </p:grpSpPr>
      <p:sp>
        <p:nvSpPr>
          <p:cNvPr id="118" name="Google Shape;118;g3bd16682253_0_10"/>
          <p:cNvSpPr/>
          <p:nvPr/>
        </p:nvSpPr>
        <p:spPr>
          <a:xfrm>
            <a:off x="9359151" y="5"/>
            <a:ext cx="2635500" cy="1828800"/>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9" name="Google Shape;119;g3bd16682253_0_10"/>
          <p:cNvPicPr preferRelativeResize="0"/>
          <p:nvPr/>
        </p:nvPicPr>
        <p:blipFill rotWithShape="1">
          <a:blip r:embed="rId3">
            <a:alphaModFix/>
          </a:blip>
          <a:srcRect b="11956" l="0" r="0" t="0"/>
          <a:stretch/>
        </p:blipFill>
        <p:spPr>
          <a:xfrm>
            <a:off x="9617663" y="274607"/>
            <a:ext cx="2208249" cy="1213534"/>
          </a:xfrm>
          <a:prstGeom prst="rect">
            <a:avLst/>
          </a:prstGeom>
          <a:noFill/>
          <a:ln>
            <a:noFill/>
          </a:ln>
        </p:spPr>
      </p:pic>
      <p:sp>
        <p:nvSpPr>
          <p:cNvPr id="120" name="Google Shape;120;g3bd16682253_0_10"/>
          <p:cNvSpPr txBox="1"/>
          <p:nvPr/>
        </p:nvSpPr>
        <p:spPr>
          <a:xfrm>
            <a:off x="0" y="0"/>
            <a:ext cx="5067300" cy="18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8300">
                <a:solidFill>
                  <a:schemeClr val="dk1"/>
                </a:solidFill>
              </a:rPr>
              <a:t>Why?</a:t>
            </a:r>
            <a:endParaRPr b="1" sz="83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
        <p:nvSpPr>
          <p:cNvPr id="121" name="Google Shape;121;g3bd16682253_0_10"/>
          <p:cNvSpPr txBox="1"/>
          <p:nvPr/>
        </p:nvSpPr>
        <p:spPr>
          <a:xfrm>
            <a:off x="2411875" y="2899125"/>
            <a:ext cx="7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22" name="Google Shape;122;g3bd16682253_0_10" title="Screenshot 2026-02-05 at 10.33.01 AM.png"/>
          <p:cNvPicPr preferRelativeResize="0"/>
          <p:nvPr/>
        </p:nvPicPr>
        <p:blipFill>
          <a:blip r:embed="rId4">
            <a:alphaModFix/>
          </a:blip>
          <a:stretch>
            <a:fillRect/>
          </a:stretch>
        </p:blipFill>
        <p:spPr>
          <a:xfrm>
            <a:off x="152400" y="2375925"/>
            <a:ext cx="11887201" cy="29073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126" name="Shape 126"/>
        <p:cNvGrpSpPr/>
        <p:nvPr/>
      </p:nvGrpSpPr>
      <p:grpSpPr>
        <a:xfrm>
          <a:off x="0" y="0"/>
          <a:ext cx="0" cy="0"/>
          <a:chOff x="0" y="0"/>
          <a:chExt cx="0" cy="0"/>
        </a:xfrm>
      </p:grpSpPr>
      <p:sp>
        <p:nvSpPr>
          <p:cNvPr id="127" name="Google Shape;127;g3bd16682253_0_18"/>
          <p:cNvSpPr/>
          <p:nvPr/>
        </p:nvSpPr>
        <p:spPr>
          <a:xfrm>
            <a:off x="9359151" y="5"/>
            <a:ext cx="2635500" cy="1828800"/>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8" name="Google Shape;128;g3bd16682253_0_18"/>
          <p:cNvPicPr preferRelativeResize="0"/>
          <p:nvPr/>
        </p:nvPicPr>
        <p:blipFill rotWithShape="1">
          <a:blip r:embed="rId3">
            <a:alphaModFix/>
          </a:blip>
          <a:srcRect b="11956" l="0" r="0" t="0"/>
          <a:stretch/>
        </p:blipFill>
        <p:spPr>
          <a:xfrm>
            <a:off x="9617663" y="274607"/>
            <a:ext cx="2208249" cy="1213534"/>
          </a:xfrm>
          <a:prstGeom prst="rect">
            <a:avLst/>
          </a:prstGeom>
          <a:noFill/>
          <a:ln>
            <a:noFill/>
          </a:ln>
        </p:spPr>
      </p:pic>
      <p:sp>
        <p:nvSpPr>
          <p:cNvPr id="129" name="Google Shape;129;g3bd16682253_0_18"/>
          <p:cNvSpPr txBox="1"/>
          <p:nvPr/>
        </p:nvSpPr>
        <p:spPr>
          <a:xfrm>
            <a:off x="0" y="0"/>
            <a:ext cx="5067300" cy="18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8300">
                <a:solidFill>
                  <a:schemeClr val="dk1"/>
                </a:solidFill>
              </a:rPr>
              <a:t>Why?</a:t>
            </a:r>
            <a:endParaRPr b="1" sz="83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
        <p:nvSpPr>
          <p:cNvPr id="130" name="Google Shape;130;g3bd16682253_0_18"/>
          <p:cNvSpPr txBox="1"/>
          <p:nvPr/>
        </p:nvSpPr>
        <p:spPr>
          <a:xfrm>
            <a:off x="2411875" y="2899125"/>
            <a:ext cx="7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31" name="Google Shape;131;g3bd16682253_0_18" title="Screenshot 2026-02-05 at 10.35.19 AM.png"/>
          <p:cNvPicPr preferRelativeResize="0"/>
          <p:nvPr/>
        </p:nvPicPr>
        <p:blipFill>
          <a:blip r:embed="rId4">
            <a:alphaModFix/>
          </a:blip>
          <a:stretch>
            <a:fillRect/>
          </a:stretch>
        </p:blipFill>
        <p:spPr>
          <a:xfrm>
            <a:off x="39049" y="2277875"/>
            <a:ext cx="11762051" cy="3575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135" name="Shape 135"/>
        <p:cNvGrpSpPr/>
        <p:nvPr/>
      </p:nvGrpSpPr>
      <p:grpSpPr>
        <a:xfrm>
          <a:off x="0" y="0"/>
          <a:ext cx="0" cy="0"/>
          <a:chOff x="0" y="0"/>
          <a:chExt cx="0" cy="0"/>
        </a:xfrm>
      </p:grpSpPr>
      <p:sp>
        <p:nvSpPr>
          <p:cNvPr id="136" name="Google Shape;136;g3bd16682253_0_28"/>
          <p:cNvSpPr/>
          <p:nvPr/>
        </p:nvSpPr>
        <p:spPr>
          <a:xfrm>
            <a:off x="9359151" y="5"/>
            <a:ext cx="2635500" cy="1828800"/>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7" name="Google Shape;137;g3bd16682253_0_28"/>
          <p:cNvPicPr preferRelativeResize="0"/>
          <p:nvPr/>
        </p:nvPicPr>
        <p:blipFill rotWithShape="1">
          <a:blip r:embed="rId3">
            <a:alphaModFix/>
          </a:blip>
          <a:srcRect b="11956" l="0" r="0" t="0"/>
          <a:stretch/>
        </p:blipFill>
        <p:spPr>
          <a:xfrm>
            <a:off x="9617663" y="274607"/>
            <a:ext cx="2208249" cy="1213534"/>
          </a:xfrm>
          <a:prstGeom prst="rect">
            <a:avLst/>
          </a:prstGeom>
          <a:noFill/>
          <a:ln>
            <a:noFill/>
          </a:ln>
        </p:spPr>
      </p:pic>
      <p:sp>
        <p:nvSpPr>
          <p:cNvPr id="138" name="Google Shape;138;g3bd16682253_0_28"/>
          <p:cNvSpPr txBox="1"/>
          <p:nvPr/>
        </p:nvSpPr>
        <p:spPr>
          <a:xfrm>
            <a:off x="0" y="0"/>
            <a:ext cx="8965500" cy="183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5000">
                <a:solidFill>
                  <a:schemeClr val="dk1"/>
                </a:solidFill>
              </a:rPr>
              <a:t>How does it add to the SF portfolio</a:t>
            </a:r>
            <a:r>
              <a:rPr b="1" lang="en-IN" sz="5000">
                <a:solidFill>
                  <a:schemeClr val="dk1"/>
                </a:solidFill>
              </a:rPr>
              <a:t>?</a:t>
            </a:r>
            <a:endParaRPr sz="5000">
              <a:solidFill>
                <a:schemeClr val="dk1"/>
              </a:solidFill>
            </a:endParaRPr>
          </a:p>
        </p:txBody>
      </p:sp>
      <p:sp>
        <p:nvSpPr>
          <p:cNvPr id="139" name="Google Shape;139;g3bd16682253_0_28"/>
          <p:cNvSpPr txBox="1"/>
          <p:nvPr/>
        </p:nvSpPr>
        <p:spPr>
          <a:xfrm>
            <a:off x="2411875" y="2899125"/>
            <a:ext cx="7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40" name="Google Shape;140;g3bd16682253_0_28"/>
          <p:cNvSpPr txBox="1"/>
          <p:nvPr/>
        </p:nvSpPr>
        <p:spPr>
          <a:xfrm>
            <a:off x="194900" y="1985525"/>
            <a:ext cx="8892300" cy="542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200">
                <a:solidFill>
                  <a:schemeClr val="dk1"/>
                </a:solidFill>
                <a:latin typeface="Roboto"/>
                <a:ea typeface="Roboto"/>
                <a:cs typeface="Roboto"/>
                <a:sym typeface="Roboto"/>
              </a:rPr>
              <a:t>First-mover in savory millet pancakes differentiates from QSR (Uncle Peter's) and rivals, aligning with "zero junk" ethos amid millet promotion (Budget 2026 boosts).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IN" sz="1200">
                <a:solidFill>
                  <a:schemeClr val="dk1"/>
                </a:solidFill>
                <a:latin typeface="Roboto"/>
                <a:ea typeface="Roboto"/>
                <a:cs typeface="Roboto"/>
                <a:sym typeface="Roboto"/>
              </a:rPr>
              <a:t> Increases repeat buys (family packs for breakfast/snacks), lifts AOV 15-25% through bundles, and fuels influencer virality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IN" sz="1200">
                <a:solidFill>
                  <a:schemeClr val="dk1"/>
                </a:solidFill>
                <a:latin typeface="Roboto"/>
                <a:ea typeface="Roboto"/>
                <a:cs typeface="Roboto"/>
                <a:sym typeface="Roboto"/>
              </a:rPr>
              <a:t>(2,500+ partners).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IN" sz="1200">
                <a:solidFill>
                  <a:schemeClr val="dk1"/>
                </a:solidFill>
                <a:latin typeface="Roboto"/>
                <a:ea typeface="Roboto"/>
                <a:cs typeface="Roboto"/>
                <a:sym typeface="Roboto"/>
              </a:rPr>
              <a:t>TAP INTO THE LUNCHBOX SPACE WITH PANCAKES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IN" sz="1200">
                <a:solidFill>
                  <a:schemeClr val="dk1"/>
                </a:solidFill>
                <a:latin typeface="Roboto"/>
                <a:ea typeface="Roboto"/>
                <a:cs typeface="Roboto"/>
                <a:sym typeface="Roboto"/>
              </a:rPr>
              <a:t>These pancakes cook in 5-10 minutes using Slurrp's millet premix base (just add water/egg, fold in onions, spinach, or masala), yielding soft, stackable portions that stay moist without refrigeration. Parents slice them into fingers or rolls, pairing with ketchup or chutney for 2-3 hour portability—far better than soggy parathas.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IN" sz="1200">
                <a:solidFill>
                  <a:schemeClr val="dk1"/>
                </a:solidFill>
                <a:latin typeface="Roboto"/>
                <a:ea typeface="Roboto"/>
                <a:cs typeface="Roboto"/>
                <a:sym typeface="Roboto"/>
              </a:rPr>
              <a:t>Packed with ragi/jowar protein (10-12g per serving), hidden veggies curb picky eating while mimicking dosa/upma tastes 90% of Indian kids prefer over sweet pancakes.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IN" sz="1200">
                <a:solidFill>
                  <a:schemeClr val="dk1"/>
                </a:solidFill>
                <a:latin typeface="Roboto"/>
                <a:ea typeface="Roboto"/>
                <a:cs typeface="Roboto"/>
                <a:sym typeface="Roboto"/>
              </a:rPr>
              <a:t>Addresses lunch box monotony (common in urban India, where 70% parents seek variety), boosting consumption amid breakfast skipping trends.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IN" sz="1200">
                <a:solidFill>
                  <a:schemeClr val="dk1"/>
                </a:solidFill>
                <a:latin typeface="Roboto"/>
                <a:ea typeface="Roboto"/>
                <a:cs typeface="Roboto"/>
                <a:sym typeface="Roboto"/>
              </a:rPr>
              <a:t>Slurrp's "zero junk" branding reassures allergen-conscious moms, with examples like potato-spinach variants already tiffin-tested.​</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IN" sz="1200">
                <a:solidFill>
                  <a:schemeClr val="dk1"/>
                </a:solidFill>
                <a:latin typeface="Roboto"/>
                <a:ea typeface="Roboto"/>
                <a:cs typeface="Roboto"/>
                <a:sym typeface="Roboto"/>
              </a:rPr>
              <a:t>This extends savory pancakes beyond breakfast, turning Slurrp packs into daily essentials for working parents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144" name="Shape 144"/>
        <p:cNvGrpSpPr/>
        <p:nvPr/>
      </p:nvGrpSpPr>
      <p:grpSpPr>
        <a:xfrm>
          <a:off x="0" y="0"/>
          <a:ext cx="0" cy="0"/>
          <a:chOff x="0" y="0"/>
          <a:chExt cx="0" cy="0"/>
        </a:xfrm>
      </p:grpSpPr>
      <p:sp>
        <p:nvSpPr>
          <p:cNvPr id="145" name="Google Shape;145;g3bd16682253_0_53"/>
          <p:cNvSpPr/>
          <p:nvPr/>
        </p:nvSpPr>
        <p:spPr>
          <a:xfrm>
            <a:off x="9359151" y="5"/>
            <a:ext cx="2635500" cy="1828800"/>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6" name="Google Shape;146;g3bd16682253_0_53"/>
          <p:cNvPicPr preferRelativeResize="0"/>
          <p:nvPr/>
        </p:nvPicPr>
        <p:blipFill rotWithShape="1">
          <a:blip r:embed="rId3">
            <a:alphaModFix/>
          </a:blip>
          <a:srcRect b="11956" l="0" r="0" t="0"/>
          <a:stretch/>
        </p:blipFill>
        <p:spPr>
          <a:xfrm>
            <a:off x="9617663" y="274607"/>
            <a:ext cx="2208249" cy="1213534"/>
          </a:xfrm>
          <a:prstGeom prst="rect">
            <a:avLst/>
          </a:prstGeom>
          <a:noFill/>
          <a:ln>
            <a:noFill/>
          </a:ln>
        </p:spPr>
      </p:pic>
      <p:sp>
        <p:nvSpPr>
          <p:cNvPr id="147" name="Google Shape;147;g3bd16682253_0_53"/>
          <p:cNvSpPr txBox="1"/>
          <p:nvPr/>
        </p:nvSpPr>
        <p:spPr>
          <a:xfrm>
            <a:off x="0" y="0"/>
            <a:ext cx="8965500" cy="183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5000">
                <a:solidFill>
                  <a:schemeClr val="dk1"/>
                </a:solidFill>
              </a:rPr>
              <a:t>How does it add to the SF portfolio?</a:t>
            </a:r>
            <a:endParaRPr sz="5000">
              <a:solidFill>
                <a:schemeClr val="dk1"/>
              </a:solidFill>
            </a:endParaRPr>
          </a:p>
        </p:txBody>
      </p:sp>
      <p:sp>
        <p:nvSpPr>
          <p:cNvPr id="148" name="Google Shape;148;g3bd16682253_0_53"/>
          <p:cNvSpPr txBox="1"/>
          <p:nvPr/>
        </p:nvSpPr>
        <p:spPr>
          <a:xfrm>
            <a:off x="2411875" y="2899125"/>
            <a:ext cx="7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49" name="Google Shape;149;g3bd16682253_0_53"/>
          <p:cNvSpPr txBox="1"/>
          <p:nvPr/>
        </p:nvSpPr>
        <p:spPr>
          <a:xfrm>
            <a:off x="194900" y="1985525"/>
            <a:ext cx="8892300" cy="355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1700">
                <a:solidFill>
                  <a:schemeClr val="dk1"/>
                </a:solidFill>
                <a:latin typeface="Roboto"/>
                <a:ea typeface="Roboto"/>
                <a:cs typeface="Roboto"/>
                <a:sym typeface="Roboto"/>
              </a:rPr>
              <a:t>Kid-Parent Appeal Synergy</a:t>
            </a:r>
            <a:endParaRPr b="1" sz="17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IN" sz="1200">
                <a:solidFill>
                  <a:schemeClr val="dk1"/>
                </a:solidFill>
                <a:latin typeface="Roboto"/>
                <a:ea typeface="Roboto"/>
                <a:cs typeface="Roboto"/>
                <a:sym typeface="Roboto"/>
              </a:rPr>
              <a:t>These flavors mimic popular snacks (pizza bites, nachos, corn cheese toast) that 80% of urban Indian kids aged 5-12 request, while Slurrp's millet base delivers 10-15g protein, hidden veggies, and zero maida per serving—addressing parents' top concerns like nutrition gaps and obesity (affecting 20% school kids). Parents get guilt-free convenience (prep under 10 mins), kids get familiar tastes without the "healthy" label turning them off.</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b="1" lang="en-IN" sz="1700">
                <a:solidFill>
                  <a:schemeClr val="dk1"/>
                </a:solidFill>
                <a:latin typeface="Roboto"/>
                <a:ea typeface="Roboto"/>
                <a:cs typeface="Roboto"/>
                <a:sym typeface="Roboto"/>
              </a:rPr>
              <a:t>Muffin Conversion Benefits</a:t>
            </a:r>
            <a:endParaRPr b="1" sz="1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IN" sz="1200">
                <a:solidFill>
                  <a:schemeClr val="dk1"/>
                </a:solidFill>
                <a:latin typeface="Roboto"/>
                <a:ea typeface="Roboto"/>
                <a:cs typeface="Roboto"/>
                <a:sym typeface="Roboto"/>
              </a:rPr>
              <a:t>Appeal Expansion: Kids see them as "pizza bites" or "cheese pops," driving repeat buys; stack for lunch boxes or freeze for weekly batches.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1100">
              <a:solidFill>
                <a:schemeClr val="dk1"/>
              </a:solidFill>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6E5"/>
        </a:solidFill>
      </p:bgPr>
    </p:bg>
    <p:spTree>
      <p:nvGrpSpPr>
        <p:cNvPr id="153" name="Shape 153"/>
        <p:cNvGrpSpPr/>
        <p:nvPr/>
      </p:nvGrpSpPr>
      <p:grpSpPr>
        <a:xfrm>
          <a:off x="0" y="0"/>
          <a:ext cx="0" cy="0"/>
          <a:chOff x="0" y="0"/>
          <a:chExt cx="0" cy="0"/>
        </a:xfrm>
      </p:grpSpPr>
      <p:sp>
        <p:nvSpPr>
          <p:cNvPr id="154" name="Google Shape;154;g3bd16682253_0_42"/>
          <p:cNvSpPr/>
          <p:nvPr/>
        </p:nvSpPr>
        <p:spPr>
          <a:xfrm>
            <a:off x="9359151" y="5"/>
            <a:ext cx="2635500" cy="1828800"/>
          </a:xfrm>
          <a:prstGeom prst="rect">
            <a:avLst/>
          </a:prstGeom>
          <a:solidFill>
            <a:srgbClr val="F5BD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55" name="Google Shape;155;g3bd16682253_0_42"/>
          <p:cNvPicPr preferRelativeResize="0"/>
          <p:nvPr/>
        </p:nvPicPr>
        <p:blipFill rotWithShape="1">
          <a:blip r:embed="rId3">
            <a:alphaModFix/>
          </a:blip>
          <a:srcRect b="11956" l="0" r="0" t="0"/>
          <a:stretch/>
        </p:blipFill>
        <p:spPr>
          <a:xfrm>
            <a:off x="9617663" y="274607"/>
            <a:ext cx="2208249" cy="1213534"/>
          </a:xfrm>
          <a:prstGeom prst="rect">
            <a:avLst/>
          </a:prstGeom>
          <a:noFill/>
          <a:ln>
            <a:noFill/>
          </a:ln>
        </p:spPr>
      </p:pic>
      <p:sp>
        <p:nvSpPr>
          <p:cNvPr id="156" name="Google Shape;156;g3bd16682253_0_42"/>
          <p:cNvSpPr txBox="1"/>
          <p:nvPr/>
        </p:nvSpPr>
        <p:spPr>
          <a:xfrm>
            <a:off x="2411875" y="2899125"/>
            <a:ext cx="7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57" name="Google Shape;157;g3bd16682253_0_42"/>
          <p:cNvSpPr txBox="1"/>
          <p:nvPr/>
        </p:nvSpPr>
        <p:spPr>
          <a:xfrm>
            <a:off x="280150" y="1741900"/>
            <a:ext cx="9988500" cy="25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2100">
                <a:solidFill>
                  <a:schemeClr val="dk1"/>
                </a:solidFill>
              </a:rPr>
              <a:t>A child says, </a:t>
            </a:r>
            <a:r>
              <a:rPr i="1" lang="en-IN" sz="2100">
                <a:solidFill>
                  <a:schemeClr val="dk1"/>
                </a:solidFill>
              </a:rPr>
              <a:t>“Momm, I want pizza for breakfast.”</a:t>
            </a:r>
            <a:br>
              <a:rPr i="1" lang="en-IN" sz="2100">
                <a:solidFill>
                  <a:schemeClr val="dk1"/>
                </a:solidFill>
              </a:rPr>
            </a:br>
            <a:r>
              <a:rPr lang="en-IN" sz="2100">
                <a:solidFill>
                  <a:schemeClr val="dk1"/>
                </a:solidFill>
              </a:rPr>
              <a:t> The instinctive response — </a:t>
            </a:r>
            <a:r>
              <a:rPr i="1" lang="en-IN" sz="2100">
                <a:solidFill>
                  <a:schemeClr val="dk1"/>
                </a:solidFill>
              </a:rPr>
              <a:t>“Who eats pizza in the morning?”</a:t>
            </a:r>
            <a:br>
              <a:rPr i="1" lang="en-IN" sz="2100">
                <a:solidFill>
                  <a:schemeClr val="dk1"/>
                </a:solidFill>
              </a:rPr>
            </a:br>
            <a:r>
              <a:rPr lang="en-IN" sz="2100">
                <a:solidFill>
                  <a:schemeClr val="dk1"/>
                </a:solidFill>
              </a:rPr>
              <a:t> And then someone barges in saying … </a:t>
            </a:r>
            <a:r>
              <a:rPr b="1" lang="en-IN" sz="2100">
                <a:solidFill>
                  <a:schemeClr val="dk1"/>
                </a:solidFill>
              </a:rPr>
              <a:t>why not?</a:t>
            </a:r>
            <a:endParaRPr b="1" sz="2100">
              <a:solidFill>
                <a:schemeClr val="dk1"/>
              </a:solidFill>
            </a:endParaRPr>
          </a:p>
          <a:p>
            <a:pPr indent="0" lvl="0" marL="0" rtl="0" algn="l">
              <a:lnSpc>
                <a:spcPct val="115000"/>
              </a:lnSpc>
              <a:spcBef>
                <a:spcPts val="0"/>
              </a:spcBef>
              <a:spcAft>
                <a:spcPts val="0"/>
              </a:spcAft>
              <a:buNone/>
            </a:pPr>
            <a:r>
              <a:rPr lang="en-IN" sz="2100">
                <a:solidFill>
                  <a:schemeClr val="dk1"/>
                </a:solidFill>
              </a:rPr>
              <a:t>Introducing </a:t>
            </a:r>
            <a:r>
              <a:rPr b="1" lang="en-IN" sz="2100">
                <a:solidFill>
                  <a:schemeClr val="dk1"/>
                </a:solidFill>
              </a:rPr>
              <a:t>Slurrp Farm Veggie Pizza Savory Pancakes</a:t>
            </a:r>
            <a:r>
              <a:rPr lang="en-IN" sz="2100">
                <a:solidFill>
                  <a:schemeClr val="dk1"/>
                </a:solidFill>
              </a:rPr>
              <a:t> — making kids’ favourite food the </a:t>
            </a:r>
            <a:r>
              <a:rPr b="1" lang="en-IN" sz="2100">
                <a:solidFill>
                  <a:schemeClr val="dk1"/>
                </a:solidFill>
              </a:rPr>
              <a:t>first thing they eat in the morning</a:t>
            </a:r>
            <a:r>
              <a:rPr lang="en-IN" sz="2100">
                <a:solidFill>
                  <a:schemeClr val="dk1"/>
                </a:solidFill>
              </a:rPr>
              <a:t>, without compromise. Same excitement. Better ingredients. A breakfast that feels like fun, not food rules.</a:t>
            </a:r>
            <a:endParaRPr sz="21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p:txBody>
      </p:sp>
      <p:sp>
        <p:nvSpPr>
          <p:cNvPr id="158" name="Google Shape;158;g3bd16682253_0_42"/>
          <p:cNvSpPr txBox="1"/>
          <p:nvPr/>
        </p:nvSpPr>
        <p:spPr>
          <a:xfrm>
            <a:off x="1157200" y="5030825"/>
            <a:ext cx="7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2023-12-28T11:49:54Z</dcterms:created>
  <dc:creator>Eshita Gaur</dc:creator>
</cp:coreProperties>
</file>